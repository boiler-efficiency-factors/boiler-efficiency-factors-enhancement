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898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63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311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38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00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617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126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714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40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143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151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690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42" y="728506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/>
              <a:t>산업용 보일러 효율 향상을 위한 </a:t>
            </a:r>
            <a:endParaRPr lang="en-US" altLang="ko-KR" sz="3600" dirty="0"/>
          </a:p>
          <a:p>
            <a:pPr algn="ctr"/>
            <a:r>
              <a:rPr lang="ko-KR" altLang="en-US" sz="3600" dirty="0"/>
              <a:t>효율 영향인자 확인 연구</a:t>
            </a:r>
            <a:endParaRPr lang="ko-KR" altLang="en-US" sz="3600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81891" y="4663440"/>
            <a:ext cx="11039302" cy="180386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5542" y="227975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기업명 </a:t>
            </a:r>
            <a:r>
              <a:rPr lang="en-US" altLang="ko-KR" dirty="0"/>
              <a:t>:  </a:t>
            </a:r>
            <a:r>
              <a:rPr lang="ko-KR" altLang="en-US" dirty="0" err="1"/>
              <a:t>대림로얄이앤피</a:t>
            </a:r>
            <a:r>
              <a:rPr lang="en-US" altLang="ko-KR" dirty="0"/>
              <a:t>(</a:t>
            </a:r>
            <a:r>
              <a:rPr lang="ko-KR" altLang="en-US" dirty="0"/>
              <a:t>주</a:t>
            </a:r>
            <a:r>
              <a:rPr lang="en-US" altLang="ko-KR" dirty="0"/>
              <a:t>)                           </a:t>
            </a:r>
            <a:r>
              <a:rPr lang="ko-KR" altLang="en-US" dirty="0"/>
              <a:t>멘토 </a:t>
            </a:r>
            <a:r>
              <a:rPr lang="en-US" altLang="ko-KR" dirty="0"/>
              <a:t>: </a:t>
            </a:r>
            <a:r>
              <a:rPr lang="ko-KR" altLang="en-US" dirty="0"/>
              <a:t>김치관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231814"/>
              </p:ext>
            </p:extLst>
          </p:nvPr>
        </p:nvGraphicFramePr>
        <p:xfrm>
          <a:off x="644236" y="2819570"/>
          <a:ext cx="11039305" cy="85199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207861">
                  <a:extLst>
                    <a:ext uri="{9D8B030D-6E8A-4147-A177-3AD203B41FA5}">
                      <a16:colId xmlns:a16="http://schemas.microsoft.com/office/drawing/2014/main" val="3879655121"/>
                    </a:ext>
                  </a:extLst>
                </a:gridCol>
                <a:gridCol w="2207861">
                  <a:extLst>
                    <a:ext uri="{9D8B030D-6E8A-4147-A177-3AD203B41FA5}">
                      <a16:colId xmlns:a16="http://schemas.microsoft.com/office/drawing/2014/main" val="2052876400"/>
                    </a:ext>
                  </a:extLst>
                </a:gridCol>
                <a:gridCol w="2207861">
                  <a:extLst>
                    <a:ext uri="{9D8B030D-6E8A-4147-A177-3AD203B41FA5}">
                      <a16:colId xmlns:a16="http://schemas.microsoft.com/office/drawing/2014/main" val="1287686911"/>
                    </a:ext>
                  </a:extLst>
                </a:gridCol>
                <a:gridCol w="2207861">
                  <a:extLst>
                    <a:ext uri="{9D8B030D-6E8A-4147-A177-3AD203B41FA5}">
                      <a16:colId xmlns:a16="http://schemas.microsoft.com/office/drawing/2014/main" val="3437281430"/>
                    </a:ext>
                  </a:extLst>
                </a:gridCol>
                <a:gridCol w="2207861">
                  <a:extLst>
                    <a:ext uri="{9D8B030D-6E8A-4147-A177-3AD203B41FA5}">
                      <a16:colId xmlns:a16="http://schemas.microsoft.com/office/drawing/2014/main" val="1670297334"/>
                    </a:ext>
                  </a:extLst>
                </a:gridCol>
              </a:tblGrid>
              <a:tr h="425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컴퓨터학부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컴퓨터학부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/>
                        <a:t>컴퓨터학부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/>
                        <a:t>컴퓨터학부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/>
                        <a:t>컴퓨터학부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9295558"/>
                  </a:ext>
                </a:extLst>
              </a:tr>
              <a:tr h="425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이윤경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/>
                        <a:t>최병이</a:t>
                      </a:r>
                      <a:r>
                        <a:rPr lang="ko-KR" altLang="en-US" sz="1600" dirty="0"/>
                        <a:t>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금명섭</a:t>
                      </a:r>
                      <a:endParaRPr lang="ko-KR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정유빈</a:t>
                      </a:r>
                      <a:endParaRPr lang="ko-KR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서규민</a:t>
                      </a:r>
                      <a:endParaRPr lang="ko-KR" altLang="en-US" sz="16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85899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85403" y="4712975"/>
            <a:ext cx="116211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○ 배경 </a:t>
            </a:r>
            <a:r>
              <a:rPr lang="en-US" altLang="ko-KR" dirty="0"/>
              <a:t>: </a:t>
            </a:r>
            <a:r>
              <a:rPr lang="ko-KR" altLang="en-US" dirty="0"/>
              <a:t>보일러 효율 인자 분석의 복잡성</a:t>
            </a:r>
            <a:r>
              <a:rPr lang="en-US" altLang="ko-KR" dirty="0"/>
              <a:t>–</a:t>
            </a:r>
            <a:r>
              <a:rPr lang="ko-KR" altLang="en-US" dirty="0"/>
              <a:t>변수들의 </a:t>
            </a:r>
            <a:r>
              <a:rPr lang="ko-KR" altLang="en-US" dirty="0" err="1"/>
              <a:t>비선형적인</a:t>
            </a:r>
            <a:r>
              <a:rPr lang="ko-KR" altLang="en-US" dirty="0"/>
              <a:t> 관계로 인한 전통적 통계 분석의 한계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○ 배경 </a:t>
            </a:r>
            <a:r>
              <a:rPr lang="en-US" altLang="ko-KR" dirty="0"/>
              <a:t>: </a:t>
            </a:r>
            <a:r>
              <a:rPr lang="ko-KR" altLang="en-US" dirty="0"/>
              <a:t>전문가 의존 및 시간 소모</a:t>
            </a:r>
            <a:r>
              <a:rPr lang="en-US" altLang="ko-KR" dirty="0"/>
              <a:t>-AI</a:t>
            </a:r>
            <a:r>
              <a:rPr lang="ko-KR" altLang="en-US" dirty="0"/>
              <a:t>모델을 활용하기 위해서는 전문가가 필수로 필요하여 상황 대처에 수동적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○ 목표 </a:t>
            </a:r>
            <a:r>
              <a:rPr lang="en-US" altLang="ko-KR" dirty="0"/>
              <a:t>: </a:t>
            </a:r>
            <a:r>
              <a:rPr lang="ko-KR" altLang="en-US" dirty="0"/>
              <a:t>비전공자</a:t>
            </a:r>
            <a:r>
              <a:rPr lang="en-US" altLang="ko-KR" dirty="0"/>
              <a:t>. </a:t>
            </a:r>
            <a:r>
              <a:rPr lang="ko-KR" altLang="en-US" dirty="0"/>
              <a:t>현장 근무자를 위한 </a:t>
            </a:r>
            <a:r>
              <a:rPr lang="en-US" altLang="ko-KR" dirty="0"/>
              <a:t>No-coding </a:t>
            </a:r>
            <a:r>
              <a:rPr lang="ko-KR" altLang="en-US" dirty="0"/>
              <a:t>환경을 제공하여 효율 인자 분석에 걸리는 시간 감소</a:t>
            </a:r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20" name="그룹 19"/>
          <p:cNvGrpSpPr/>
          <p:nvPr/>
        </p:nvGrpSpPr>
        <p:grpSpPr>
          <a:xfrm>
            <a:off x="581891" y="4073237"/>
            <a:ext cx="4463934" cy="448887"/>
            <a:chOff x="627842" y="1492250"/>
            <a:chExt cx="2664888" cy="444500"/>
          </a:xfrm>
        </p:grpSpPr>
        <p:pic>
          <p:nvPicPr>
            <p:cNvPr id="21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22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배경 및 목표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124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81892" y="399011"/>
            <a:ext cx="4463934" cy="448887"/>
            <a:chOff x="627842" y="1492250"/>
            <a:chExt cx="2664888" cy="444500"/>
          </a:xfrm>
        </p:grpSpPr>
        <p:pic>
          <p:nvPicPr>
            <p:cNvPr id="6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7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시스템</a:t>
              </a:r>
              <a:r>
                <a:rPr lang="en-US" altLang="ko-KR" sz="2000" b="1" dirty="0">
                  <a:solidFill>
                    <a:srgbClr val="1C5E8D"/>
                  </a:solidFill>
                  <a:latin typeface="+mn-ea"/>
                </a:rPr>
                <a:t> </a:t>
              </a: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전체 구조도</a:t>
              </a:r>
              <a:r>
                <a:rPr lang="en-US" altLang="ko-KR" sz="2000" b="1" dirty="0">
                  <a:solidFill>
                    <a:srgbClr val="1C5E8D"/>
                  </a:solidFill>
                  <a:latin typeface="+mn-ea"/>
                </a:rPr>
                <a:t>(</a:t>
              </a:r>
              <a:r>
                <a:rPr lang="ko-KR" altLang="en-US" sz="2000" b="1" dirty="0" err="1">
                  <a:solidFill>
                    <a:srgbClr val="1C5E8D"/>
                  </a:solidFill>
                  <a:latin typeface="+mn-ea"/>
                </a:rPr>
                <a:t>기술스택</a:t>
              </a: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 포함</a:t>
              </a:r>
              <a:r>
                <a:rPr lang="en-US" altLang="ko-KR" sz="2000" b="1" dirty="0">
                  <a:solidFill>
                    <a:srgbClr val="1C5E8D"/>
                  </a:solidFill>
                  <a:latin typeface="+mn-ea"/>
                </a:rPr>
                <a:t>)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5BE3BB04-DAFF-9146-5B06-464B635F0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45" y="1052442"/>
            <a:ext cx="11882594" cy="540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797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81892" y="399011"/>
            <a:ext cx="4463934" cy="448887"/>
            <a:chOff x="627842" y="1492250"/>
            <a:chExt cx="2664888" cy="444500"/>
          </a:xfrm>
        </p:grpSpPr>
        <p:pic>
          <p:nvPicPr>
            <p:cNvPr id="6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7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구현 기능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1524BB1D-A422-FE8E-F22C-D16A3196D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11" y="1089661"/>
            <a:ext cx="3450431" cy="245364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E52D5F0-7438-876B-D51B-2A1AEA83E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6509" y="1089661"/>
            <a:ext cx="3705411" cy="363850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424A569-B050-D51F-9A32-1E7A66E855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3287" y="1089661"/>
            <a:ext cx="3965955" cy="3070861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207A300B-DF4D-6EE6-0E76-424470435C9F}"/>
              </a:ext>
            </a:extLst>
          </p:cNvPr>
          <p:cNvSpPr/>
          <p:nvPr/>
        </p:nvSpPr>
        <p:spPr>
          <a:xfrm>
            <a:off x="3765847" y="2489200"/>
            <a:ext cx="239958" cy="1651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8C81A631-491D-B5B9-AAD0-FA1A1998CBE8}"/>
              </a:ext>
            </a:extLst>
          </p:cNvPr>
          <p:cNvSpPr/>
          <p:nvPr/>
        </p:nvSpPr>
        <p:spPr>
          <a:xfrm>
            <a:off x="7772624" y="2489200"/>
            <a:ext cx="239958" cy="1651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0A6A19-EC7B-524D-FCFB-AC84F1F7844B}"/>
              </a:ext>
            </a:extLst>
          </p:cNvPr>
          <p:cNvSpPr txBox="1"/>
          <p:nvPr/>
        </p:nvSpPr>
        <p:spPr>
          <a:xfrm>
            <a:off x="3538187" y="5142652"/>
            <a:ext cx="846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로그인 </a:t>
            </a:r>
            <a:r>
              <a:rPr lang="en-US" altLang="ko-KR" dirty="0"/>
              <a:t>-&gt;</a:t>
            </a:r>
            <a:r>
              <a:rPr lang="ko-KR" altLang="en-US" dirty="0"/>
              <a:t>모델 선택</a:t>
            </a:r>
            <a:r>
              <a:rPr lang="en-US" altLang="ko-KR" dirty="0"/>
              <a:t>/</a:t>
            </a:r>
            <a:r>
              <a:rPr lang="ko-KR" altLang="en-US" dirty="0" err="1"/>
              <a:t>하이퍼파라미터</a:t>
            </a:r>
            <a:r>
              <a:rPr lang="ko-KR" altLang="en-US" dirty="0"/>
              <a:t> 설정</a:t>
            </a:r>
            <a:r>
              <a:rPr lang="en-US" altLang="ko-KR" dirty="0"/>
              <a:t>/</a:t>
            </a:r>
            <a:r>
              <a:rPr lang="ko-KR" altLang="en-US" dirty="0"/>
              <a:t>변수 설정 </a:t>
            </a:r>
            <a:r>
              <a:rPr lang="en-US" altLang="ko-KR" dirty="0"/>
              <a:t>-&gt;</a:t>
            </a:r>
            <a:r>
              <a:rPr lang="ko-KR" altLang="en-US" dirty="0"/>
              <a:t>결과 확인의 순서로 진행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9715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81892" y="399011"/>
            <a:ext cx="4463934" cy="448887"/>
            <a:chOff x="627842" y="1492250"/>
            <a:chExt cx="2664888" cy="444500"/>
          </a:xfrm>
        </p:grpSpPr>
        <p:pic>
          <p:nvPicPr>
            <p:cNvPr id="6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7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프로젝트 결과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F50561D3-FBA6-238E-8F16-13A4698E5EA2}"/>
              </a:ext>
            </a:extLst>
          </p:cNvPr>
          <p:cNvSpPr/>
          <p:nvPr/>
        </p:nvSpPr>
        <p:spPr>
          <a:xfrm>
            <a:off x="5477431" y="3263900"/>
            <a:ext cx="239958" cy="1651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062D330B-6ACB-48BC-2172-222F777EE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284" y="1030690"/>
            <a:ext cx="5901818" cy="474146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814F4968-C88E-BCB2-50C2-1DE4D95A8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91" y="1030690"/>
            <a:ext cx="4782961" cy="469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327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581891" y="4605251"/>
            <a:ext cx="11039302" cy="180386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774968" y="4771505"/>
            <a:ext cx="106384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○ 경제적 측면 </a:t>
            </a:r>
            <a:r>
              <a:rPr lang="en-US" altLang="ko-KR" dirty="0"/>
              <a:t>: </a:t>
            </a:r>
            <a:r>
              <a:rPr lang="ko-KR" altLang="en-US" dirty="0"/>
              <a:t>에너지 비용 절감을 통한 시설 운영 비용 절감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○ 환경적 측면 </a:t>
            </a:r>
            <a:r>
              <a:rPr lang="en-US" altLang="ko-KR" dirty="0"/>
              <a:t>: </a:t>
            </a:r>
            <a:r>
              <a:rPr lang="ko-KR" altLang="en-US" dirty="0"/>
              <a:t>연료 사용량 감소를 통한 배기가스 배출량 감소 유도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○ 기술적 측면 </a:t>
            </a:r>
            <a:r>
              <a:rPr lang="en-US" altLang="ko-KR" dirty="0"/>
              <a:t>: no-coding </a:t>
            </a:r>
            <a:r>
              <a:rPr lang="ko-KR" altLang="en-US" dirty="0"/>
              <a:t>환경 제공을 통한 현장에서의 유연한 상황 대처</a:t>
            </a:r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20" name="그룹 19"/>
          <p:cNvGrpSpPr/>
          <p:nvPr/>
        </p:nvGrpSpPr>
        <p:grpSpPr>
          <a:xfrm>
            <a:off x="581891" y="4015048"/>
            <a:ext cx="4463934" cy="448887"/>
            <a:chOff x="627842" y="1492250"/>
            <a:chExt cx="2664888" cy="444500"/>
          </a:xfrm>
        </p:grpSpPr>
        <p:pic>
          <p:nvPicPr>
            <p:cNvPr id="21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22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i="0" u="none" strike="noStrike" dirty="0">
                  <a:solidFill>
                    <a:srgbClr val="1C5E8D"/>
                  </a:solidFill>
                  <a:latin typeface="+mn-ea"/>
                </a:rPr>
                <a:t>기대 효과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sp>
        <p:nvSpPr>
          <p:cNvPr id="10" name="직사각형 9"/>
          <p:cNvSpPr/>
          <p:nvPr/>
        </p:nvSpPr>
        <p:spPr>
          <a:xfrm>
            <a:off x="581891" y="1026664"/>
            <a:ext cx="11039302" cy="253118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/>
          <p:cNvGrpSpPr/>
          <p:nvPr/>
        </p:nvGrpSpPr>
        <p:grpSpPr>
          <a:xfrm>
            <a:off x="581891" y="436460"/>
            <a:ext cx="4463934" cy="448887"/>
            <a:chOff x="627842" y="1492250"/>
            <a:chExt cx="2664888" cy="444500"/>
          </a:xfrm>
        </p:grpSpPr>
        <p:pic>
          <p:nvPicPr>
            <p:cNvPr id="13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14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실적 산출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B9BDE07D-4D96-C09B-A46C-6086E3C91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140" y="1026664"/>
            <a:ext cx="2483660" cy="24027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B592710-0C48-29FF-6639-17C14C3919B7}"/>
              </a:ext>
            </a:extLst>
          </p:cNvPr>
          <p:cNvSpPr txBox="1"/>
          <p:nvPr/>
        </p:nvSpPr>
        <p:spPr>
          <a:xfrm>
            <a:off x="7500543" y="1354050"/>
            <a:ext cx="38303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웹 페이지를 통한 </a:t>
            </a:r>
            <a:r>
              <a:rPr lang="en-US" altLang="ko-KR" dirty="0"/>
              <a:t>no-coding </a:t>
            </a:r>
            <a:r>
              <a:rPr lang="ko-KR" altLang="en-US" dirty="0"/>
              <a:t>인터페이스를 제공하여 사용자가 복잡한 </a:t>
            </a:r>
            <a:r>
              <a:rPr lang="ko-KR" altLang="en-US" dirty="0" err="1"/>
              <a:t>파라미터값에</a:t>
            </a:r>
            <a:r>
              <a:rPr lang="ko-KR" altLang="en-US" dirty="0"/>
              <a:t> 직접 접근할 필요를 낮추어 접근성과 시간 효율이 향상됨</a:t>
            </a:r>
            <a:r>
              <a:rPr lang="en-US" altLang="ko-KR" dirty="0"/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A5AC6D2-B55C-4824-6E53-F900CDDE0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91" y="1028816"/>
            <a:ext cx="4463934" cy="248193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B67D53C-1C74-6419-D2B9-27C210BE6ACE}"/>
              </a:ext>
            </a:extLst>
          </p:cNvPr>
          <p:cNvSpPr txBox="1"/>
          <p:nvPr/>
        </p:nvSpPr>
        <p:spPr>
          <a:xfrm>
            <a:off x="7510331" y="2732948"/>
            <a:ext cx="3981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 </a:t>
            </a:r>
            <a:r>
              <a:rPr lang="ko-KR" altLang="en-US" dirty="0"/>
              <a:t>보일러의 효율에 가장 효율을 </a:t>
            </a:r>
            <a:endParaRPr lang="en-US" altLang="ko-KR" dirty="0"/>
          </a:p>
          <a:p>
            <a:r>
              <a:rPr lang="ko-KR" altLang="en-US" dirty="0"/>
              <a:t>   많이 미치는 요소는 순서대로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 err="1"/>
              <a:t>급수량</a:t>
            </a:r>
            <a:r>
              <a:rPr lang="en-US" altLang="ko-KR" dirty="0"/>
              <a:t>, </a:t>
            </a:r>
            <a:r>
              <a:rPr lang="ko-KR" altLang="en-US" dirty="0"/>
              <a:t>연료량</a:t>
            </a:r>
            <a:r>
              <a:rPr lang="en-US" altLang="ko-KR" dirty="0"/>
              <a:t>, </a:t>
            </a:r>
            <a:r>
              <a:rPr lang="ko-KR" altLang="en-US" dirty="0" err="1"/>
              <a:t>배기가스온도였음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733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186</Words>
  <Application>Microsoft Office PowerPoint</Application>
  <PresentationFormat>와이드스크린</PresentationFormat>
  <Paragraphs>34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소프트웨어교육원</dc:creator>
  <cp:lastModifiedBy>Joshua Stone</cp:lastModifiedBy>
  <cp:revision>29</cp:revision>
  <dcterms:created xsi:type="dcterms:W3CDTF">2025-05-26T08:38:07Z</dcterms:created>
  <dcterms:modified xsi:type="dcterms:W3CDTF">2025-12-04T19:35:45Z</dcterms:modified>
</cp:coreProperties>
</file>